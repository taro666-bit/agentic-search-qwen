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4" r:id="rId4"/>
    <p:sldId id="265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447339" y="340750"/>
            <a:ext cx="5235575" cy="3896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545"/>
              </a:lnSpc>
            </a:pP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Workflow Ag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6040" algn="l" rtl="0" eaLnBrk="0">
              <a:lnSpc>
                <a:spcPct val="87000"/>
              </a:lnSpc>
              <a:spcBef>
                <a:spcPts val="510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到底给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多大的自由空间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1280" algn="l" rtl="0" eaLnBrk="0">
              <a:lnSpc>
                <a:spcPts val="2280"/>
              </a:lnSpc>
              <a:spcBef>
                <a:spcPts val="520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会有幻觉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2390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只会说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，不会做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0485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规划的步骤不靠谱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62865" indent="2540" algn="l" rtl="0" eaLnBrk="0">
              <a:lnSpc>
                <a:spcPct val="207000"/>
              </a:lnSpc>
              <a:spcBef>
                <a:spcPts val="230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有些任务就是需要极强的准确度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、可控性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，怎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么办？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模型提供智能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保证结果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2"/>
          <p:cNvSpPr/>
          <p:nvPr/>
        </p:nvSpPr>
        <p:spPr>
          <a:xfrm>
            <a:off x="447339" y="340750"/>
            <a:ext cx="5104130" cy="4445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545"/>
              </a:lnSpc>
            </a:pP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Workflow Ag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6040" algn="l" rtl="0" eaLnBrk="0">
              <a:lnSpc>
                <a:spcPct val="87000"/>
              </a:lnSpc>
              <a:spcBef>
                <a:spcPts val="510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到底给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多大的自由空间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1280" algn="l" rtl="0" eaLnBrk="0">
              <a:lnSpc>
                <a:spcPts val="2280"/>
              </a:lnSpc>
              <a:spcBef>
                <a:spcPts val="520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、用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技术构建私有知识库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，提升对话能力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2390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、用设计者定义好的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Workflow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完成特定任务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0485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、过程中使用工具完成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无法完成的任务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6675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、让</a:t>
            </a:r>
            <a:r>
              <a:rPr sz="17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写代码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700" kern="0" spc="-4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完成数据处理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数学计算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2865" indent="-3175" algn="l" rtl="0" eaLnBrk="0">
              <a:lnSpc>
                <a:spcPct val="163000"/>
              </a:lnSpc>
              <a:spcBef>
                <a:spcPts val="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Workflow</a:t>
            </a:r>
            <a:r>
              <a:rPr sz="17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r>
              <a:rPr sz="17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非常适合准确性要求较高的场景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模型提供智能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保证结果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8848" y="1434083"/>
            <a:ext cx="10814304" cy="5218177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9711762" y="1941967"/>
            <a:ext cx="1538605" cy="308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0005" algn="l" rtl="0" eaLnBrk="0">
              <a:lnSpc>
                <a:spcPts val="2020"/>
              </a:lnSpc>
            </a:pPr>
            <a:r>
              <a:rPr sz="1500" kern="0" spc="11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4o图像识别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DALLE</a:t>
            </a:r>
            <a:r>
              <a:rPr sz="1500" kern="0" spc="20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生图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4465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海螺视频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8300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13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讯飞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60350" algn="l" rtl="0" eaLnBrk="0">
              <a:lnSpc>
                <a:spcPts val="2020"/>
              </a:lnSpc>
              <a:spcBef>
                <a:spcPts val="5"/>
              </a:spcBef>
            </a:pP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</a:t>
            </a:r>
            <a:r>
              <a:rPr sz="1500" kern="0" spc="1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3D 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61307" y="2953355"/>
            <a:ext cx="862330" cy="205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工作流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触发器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" algn="l" rtl="0" eaLnBrk="0">
              <a:lnSpc>
                <a:spcPct val="87000"/>
              </a:lnSpc>
              <a:spcBef>
                <a:spcPts val="0"/>
              </a:spcBef>
            </a:pPr>
            <a:r>
              <a:rPr sz="1500" kern="0" spc="7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系统调用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583234" y="5939291"/>
            <a:ext cx="5140325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020"/>
              </a:lnSpc>
            </a:pPr>
            <a:r>
              <a:rPr sz="1500" kern="0" spc="8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企业数据库</a:t>
            </a:r>
            <a:r>
              <a:rPr sz="1500" kern="0" spc="3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</a:t>
            </a:r>
            <a:r>
              <a:rPr sz="1500" kern="0" spc="2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</a:t>
            </a:r>
            <a:r>
              <a:rPr sz="1500" kern="0" spc="8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企业向量</a:t>
            </a:r>
            <a:r>
              <a:rPr sz="1500" kern="0" spc="7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库             企业系统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5806957" y="2978271"/>
            <a:ext cx="620395" cy="202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4775" algn="l" rtl="0" eaLnBrk="0">
              <a:lnSpc>
                <a:spcPct val="76000"/>
              </a:lnSpc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  <a:spcBef>
                <a:spcPts val="455"/>
              </a:spcBef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向量库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85" algn="l" rtl="0" eaLnBrk="0">
              <a:lnSpc>
                <a:spcPct val="87000"/>
              </a:lnSpc>
              <a:spcBef>
                <a:spcPts val="0"/>
              </a:spcBef>
            </a:pPr>
            <a:r>
              <a:rPr sz="1500" kern="0" spc="3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向量库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8075980" y="1986126"/>
            <a:ext cx="863600" cy="3039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4170" algn="l" rtl="0" eaLnBrk="0">
              <a:lnSpc>
                <a:spcPct val="85000"/>
              </a:lnSpc>
            </a:pPr>
            <a:r>
              <a:rPr sz="1500" kern="0" spc="5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4965" algn="l" rtl="0" eaLnBrk="0">
              <a:lnSpc>
                <a:spcPct val="85000"/>
              </a:lnSpc>
              <a:spcBef>
                <a:spcPts val="455"/>
              </a:spcBef>
            </a:pPr>
            <a:r>
              <a:rPr sz="1500" kern="0" spc="4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生图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生视频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  <a:spcBef>
                <a:spcPts val="460"/>
              </a:spcBef>
            </a:pPr>
            <a:r>
              <a:rPr sz="1500" kern="0" spc="7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语音合成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0645" algn="l" rtl="0" eaLnBrk="0">
              <a:lnSpc>
                <a:spcPts val="2020"/>
              </a:lnSpc>
            </a:pPr>
            <a:r>
              <a:rPr sz="1500" kern="0" spc="7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3D生成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512743" y="1665128"/>
            <a:ext cx="1169035" cy="443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6000"/>
              </a:lnSpc>
            </a:pPr>
            <a:r>
              <a:rPr sz="32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endParaRPr sz="32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3022092" y="106680"/>
            <a:ext cx="6148070" cy="1087120"/>
          </a:xfrm>
          <a:prstGeom prst="rect">
            <a:avLst/>
          </a:prstGeom>
          <a:solidFill>
            <a:srgbClr val="FFF2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161540" algn="l" rtl="0" eaLnBrk="0">
              <a:lnSpc>
                <a:spcPct val="86000"/>
              </a:lnSpc>
              <a:spcBef>
                <a:spcPts val="0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用户交互界面</a:t>
            </a:r>
            <a:endParaRPr sz="2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3313589" y="1984100"/>
            <a:ext cx="831850" cy="302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0645" algn="l" rtl="0" eaLnBrk="0">
              <a:lnSpc>
                <a:spcPct val="86000"/>
              </a:lnSpc>
            </a:pP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地图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9375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表单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0010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6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搜索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970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8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代码执行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1500" kern="0" spc="8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数据获取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110314" y="1941967"/>
            <a:ext cx="1225550" cy="308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145" algn="l" rtl="0" eaLnBrk="0">
              <a:lnSpc>
                <a:spcPts val="2020"/>
              </a:lnSpc>
            </a:pPr>
            <a:r>
              <a:rPr sz="1500" kern="0" spc="11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高德地图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970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谷歌表单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11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百度搜索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35" algn="l" rtl="0" eaLnBrk="0">
              <a:lnSpc>
                <a:spcPts val="202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代码执行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020"/>
              </a:lnSpc>
              <a:spcBef>
                <a:spcPts val="5"/>
              </a:spcBef>
            </a:pPr>
            <a:r>
              <a:rPr sz="1500" kern="0" spc="12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各类数据 </a:t>
            </a:r>
            <a:r>
              <a:rPr sz="1500" kern="0" spc="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4607719" y="2978271"/>
            <a:ext cx="880110" cy="202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300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Prompt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17170" algn="l" rtl="0" eaLnBrk="0">
              <a:lnSpc>
                <a:spcPct val="87000"/>
              </a:lnSpc>
              <a:spcBef>
                <a:spcPts val="455"/>
              </a:spcBef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数据库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70" dirty="0">
                <a:solidFill>
                  <a:srgbClr val="0D1013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数据库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/>
          <p:nvPr/>
        </p:nvSpPr>
        <p:spPr>
          <a:xfrm>
            <a:off x="474672" y="448660"/>
            <a:ext cx="7816215" cy="4840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ReAct Agent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38735" algn="l" rtl="0" eaLnBrk="0">
              <a:lnSpc>
                <a:spcPts val="2280"/>
              </a:lnSpc>
              <a:spcBef>
                <a:spcPts val="1430"/>
              </a:spcBef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有些任务无法提前设定步骤怎么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办？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5880" algn="l" rtl="0" eaLnBrk="0">
              <a:lnSpc>
                <a:spcPct val="90000"/>
              </a:lnSpc>
              <a:spcBef>
                <a:spcPts val="510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比如：</a:t>
            </a:r>
            <a:r>
              <a:rPr sz="1700" kern="0" spc="-4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我有份文件里记录了上个月最终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的业务数据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，找找是哪份文件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5880" algn="l" rtl="0" eaLnBrk="0">
              <a:lnSpc>
                <a:spcPct val="90000"/>
              </a:lnSpc>
              <a:spcBef>
                <a:spcPts val="51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比如：</a:t>
            </a:r>
            <a:r>
              <a:rPr sz="1700" kern="0" spc="-4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检查一下直播系统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，我的直播间学员们说很卡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，但是网络测速是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正常的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5880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比如：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听说明天台风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，我明天从深圳飞北京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，能正常起飞么？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0165" algn="l" rtl="0" eaLnBrk="0">
              <a:lnSpc>
                <a:spcPts val="2280"/>
              </a:lnSpc>
              <a:spcBef>
                <a:spcPts val="515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ReAct：</a:t>
            </a:r>
            <a:r>
              <a:rPr sz="1700" kern="0" spc="-3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Reasoning +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Acting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algn="l" rtl="0" eaLnBrk="0">
              <a:lnSpc>
                <a:spcPct val="86000"/>
              </a:lnSpc>
              <a:spcBef>
                <a:spcPts val="510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推理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、行动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、获得反馈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7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925" algn="l" rtl="0" eaLnBrk="0">
              <a:lnSpc>
                <a:spcPct val="86000"/>
              </a:lnSpc>
              <a:spcBef>
                <a:spcPts val="515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根据反馈再次推理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、行动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、再次获取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8260" algn="l" rtl="0" eaLnBrk="0">
              <a:lnSpc>
                <a:spcPts val="325"/>
              </a:lnSpc>
              <a:spcBef>
                <a:spcPts val="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......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6"/>
          <p:cNvSpPr/>
          <p:nvPr/>
        </p:nvSpPr>
        <p:spPr>
          <a:xfrm>
            <a:off x="7437928" y="1135126"/>
            <a:ext cx="3340734" cy="1217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875" algn="l" rtl="0" eaLnBrk="0">
              <a:lnSpc>
                <a:spcPts val="2255"/>
              </a:lnSpc>
            </a:pP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第1轮 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1590" algn="l" rtl="0" eaLnBrk="0">
              <a:lnSpc>
                <a:spcPts val="204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ListFileName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据.xlsx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50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各地供应商信息.xlsx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780" algn="l" rtl="0" eaLnBrk="0">
              <a:lnSpc>
                <a:spcPts val="173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2023 年供应商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7433289" y="2558161"/>
            <a:ext cx="4487545" cy="1881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95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第2轮 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Ask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Document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ct val="10000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2023 年供应商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2023 年供应商 9 月份的销售额达标标准是多少？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2023 年供应商 9 月份的销售额达标标准是3 万元。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955" indent="-6350" algn="l" rtl="0" eaLnBrk="0">
              <a:lnSpc>
                <a:spcPct val="109000"/>
              </a:lnSpc>
              <a:spcBef>
                <a:spcPts val="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根据文件2023 年各季度销售额任务分配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 第三季度（7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 - 9 月</a:t>
            </a:r>
            <a:r>
              <a:rPr sz="1400" kern="0" spc="-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r>
              <a:rPr sz="1400" kern="0" spc="-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规定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月销售额任务明确为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4162482" y="4547615"/>
            <a:ext cx="3130550" cy="2071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第3轮 行动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050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action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InspectExcel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"各地供应商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信息.xlsx"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file_type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"xlsx"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78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import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pandas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pd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4605" indent="381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 = pd.read_excel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("/mnt/data/ 各地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供应商信息.xlsx")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ct val="100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print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(df.columns.tolist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())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ts val="173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print</a:t>
            </a:r>
            <a:r>
              <a:rPr sz="1400" kern="0" spc="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(df.head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(3))"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7435965" y="4547615"/>
            <a:ext cx="4504055" cy="2045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第3轮 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3495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InspectExcel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各地供应商信息.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18415" algn="l" rtl="0" eaLnBrk="0">
              <a:lnSpc>
                <a:spcPct val="95000"/>
              </a:lnSpc>
              <a:spcBef>
                <a:spcPts val="1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 供应商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 联系人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 联系人邮箱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内部对接人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']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 联系人 联系人邮箱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内部对接人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4605" indent="2540" algn="l" rtl="0" eaLnBrk="0">
              <a:lnSpc>
                <a:spcPct val="99000"/>
              </a:lnSpc>
              <a:spcBef>
                <a:spcPts val="35"/>
              </a:spcBef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北京科技有限公司 张伟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xiaoming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123@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example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李华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7305" algn="l" rtl="0" eaLnBrk="0">
              <a:lnSpc>
                <a:spcPts val="1730"/>
              </a:lnSpc>
              <a:spcBef>
                <a:spcPts val="105"/>
              </a:spcBef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上海音响有限公司 李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芳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lihua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456@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example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org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张伟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050" indent="635" algn="l" rtl="0" eaLnBrk="0">
              <a:lnSpc>
                <a:spcPct val="95000"/>
              </a:lnSpc>
              <a:spcBef>
                <a:spcPts val="20"/>
              </a:spcBef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 深圳创新科技有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限公司 陈瑶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wangli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789@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example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net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王芳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317673" y="132460"/>
            <a:ext cx="7441565" cy="791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ts val="228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3个文件 +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1个问题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4765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：9 月份销售额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不达标的供应商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各类电子产品销售数据.xlsx，各地供应商信息.xlsx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，2023 年供应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4168906" y="1135126"/>
            <a:ext cx="2035175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35" algn="l" rtl="0" eaLnBrk="0">
              <a:lnSpc>
                <a:spcPts val="2280"/>
              </a:lnSpc>
            </a:pP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第1轮 行动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8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action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ListFileNames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313034" y="2558161"/>
            <a:ext cx="3632200" cy="1193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95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第2轮 推理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875" indent="-635" algn="l" rtl="0" eaLnBrk="0">
              <a:lnSpc>
                <a:spcPct val="102000"/>
              </a:lnSpc>
              <a:spcBef>
                <a:spcPts val="265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销售额达标标准可能在  “2023 年供应商月销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售额任务管理方案.pdf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，需通过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875" indent="-3175" algn="l" rtl="0" eaLnBrk="0">
              <a:lnSpc>
                <a:spcPct val="95000"/>
              </a:lnSpc>
              <a:spcBef>
                <a:spcPts val="2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Ask</a:t>
            </a:r>
            <a:r>
              <a:rPr sz="1400" kern="0" spc="-2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Document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查询该文件获取 9 月份的达标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标准。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4162482" y="2558161"/>
            <a:ext cx="3131820" cy="1668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第2轮 行动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050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action :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"Ask</a:t>
            </a:r>
            <a:r>
              <a:rPr sz="1400" kern="0" spc="-3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Document"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145" indent="-444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 "2023年供应商月销售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额任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务管理方案.pdf"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file_type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"pdf"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145" indent="635" algn="l" rtl="0" eaLnBrk="0">
              <a:lnSpc>
                <a:spcPct val="107000"/>
              </a:lnSpc>
              <a:spcBef>
                <a:spcPts val="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query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 "2023年供应商9月份的销售额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达标标准是多少？"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315710" y="4547615"/>
            <a:ext cx="3511550" cy="1028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第3轮 推理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3335" indent="-635" algn="l" rtl="0" eaLnBrk="0">
              <a:lnSpc>
                <a:spcPct val="106000"/>
              </a:lnSpc>
              <a:spcBef>
                <a:spcPts val="265"/>
              </a:spcBef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供应商名单可能在  “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各地供应商信息.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，需通过 InspectExcel 查看该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文件结构，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确认是否包含供应商 ID、名称等信息。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319814" y="1135126"/>
            <a:ext cx="3588384" cy="1004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970" algn="l" rtl="0" eaLnBrk="0">
              <a:lnSpc>
                <a:spcPts val="2280"/>
              </a:lnSpc>
            </a:pP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第1轮 推理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3970" indent="-1270" algn="l" rtl="0" eaLnBrk="0">
              <a:lnSpc>
                <a:spcPct val="100000"/>
              </a:lnSpc>
              <a:spcBef>
                <a:spcPts val="285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要获取 9 月份供应商销售额数据和达标标准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首先需知道有哪些文件可用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，因此需执行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685" algn="l" rtl="0" eaLnBrk="0">
              <a:lnSpc>
                <a:spcPts val="178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ListFileNames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获取所有支持任务的文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件名称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0"/>
          <p:cNvSpPr/>
          <p:nvPr/>
        </p:nvSpPr>
        <p:spPr>
          <a:xfrm>
            <a:off x="7439712" y="1135126"/>
            <a:ext cx="4524375" cy="1644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0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第4轮 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685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InspectExcel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各类电子产品销售数据.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1590" indent="5715" algn="l" rtl="0" eaLnBrk="0">
              <a:lnSpc>
                <a:spcPct val="100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['品类', '产品名', '单价(元)',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'销售量',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'销售日期',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'供应商']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品类 产品名 单价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(元) 销售量 销售日期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1270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手机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Xiaomi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4999 20 08-02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北京科技有限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公司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耳机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Sony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XM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4 2999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08-03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上海音响有限公司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笔记本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Lenovo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1 8999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10 0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8-05 深圳创新有限公司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4051357" y="2939161"/>
            <a:ext cx="8045450" cy="271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第5轮 行动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050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action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AnalyseExcel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 "各类电子产品销售数据.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file_type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"xlsx"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780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import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pandas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pd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841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 = pd.read_excel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('/mnt/data/ 各类电子产品销售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数据.xlsx')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841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 销售日期 '] =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pd.to_d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atetime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(df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 销售日期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'])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14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september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 销售日期 '].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dt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month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==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9]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240" indent="190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sales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summary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september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groupby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(' 供应商 ').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apply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lambda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(x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 单价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(元)'] * x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['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销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售量 ']).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sum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()).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reset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index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='9 月销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售额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(元)')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print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sales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summary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317673" y="132460"/>
            <a:ext cx="7441565" cy="791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ts val="228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3个文件 +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1个问题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4765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：9 月份销售额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不达标的供应商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各类电子产品销售数据.xlsx，各地供应商信息.xlsx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，2023 年供应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4162482" y="1135126"/>
            <a:ext cx="2687320" cy="1217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第4轮 行动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9050" algn="l" rtl="0" eaLnBrk="0">
              <a:lnSpc>
                <a:spcPts val="173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action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InspectExcel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145" indent="-4445" algn="l" rtl="0" eaLnBrk="0">
              <a:lnSpc>
                <a:spcPct val="10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_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"各类电子产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品销售数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据.xlsx"file_ty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pe :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"xlsx"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780" algn="l" rtl="0" eaLnBrk="0">
              <a:lnSpc>
                <a:spcPts val="173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: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......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13034" y="2939161"/>
            <a:ext cx="3630295" cy="164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95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第5轮 推理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875" indent="635" algn="l" rtl="0" eaLnBrk="0">
              <a:lnSpc>
                <a:spcPct val="100000"/>
              </a:lnSpc>
              <a:spcBef>
                <a:spcPts val="285"/>
              </a:spcBef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 “各类电子产品销售数据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中筛选销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售日期为 9 月份的记录，按供应商分组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汇总销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售量和单价，计算销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售额。使用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240" indent="-2540" algn="l" rtl="0" eaLnBrk="0">
              <a:lnSpc>
                <a:spcPct val="102000"/>
              </a:lnSpc>
              <a:spcBef>
                <a:spcPts val="1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AnalyseExcel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工具，对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“各类电子产品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 按销售日期筛选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 月份数据，按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供应商分组，计算每个供应商的销售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额总和。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316781" y="1135126"/>
            <a:ext cx="3632200" cy="1219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14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第4轮 推理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635" algn="l" rtl="0" eaLnBrk="0">
              <a:lnSpc>
                <a:spcPct val="102000"/>
              </a:lnSpc>
              <a:spcBef>
                <a:spcPts val="265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</a:t>
            </a:r>
            <a:r>
              <a:rPr sz="1400" kern="0" spc="2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“各类电子产品销售数据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sz="1400" kern="0" spc="-3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中筛选 9 月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份数据</a:t>
            </a:r>
            <a:r>
              <a:rPr sz="14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。执行 InspectExc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el 动作，探查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“各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类电子产品销售数据.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的列名和前 3 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，以确定销售额和月份所在列。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6"/>
          <p:cNvSpPr/>
          <p:nvPr/>
        </p:nvSpPr>
        <p:spPr>
          <a:xfrm>
            <a:off x="8246089" y="454406"/>
            <a:ext cx="3479165" cy="5911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955" algn="l" rtl="0" eaLnBrk="0">
              <a:lnSpc>
                <a:spcPts val="228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第5轮 反馈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240" indent="-2540" algn="l" rtl="0" eaLnBrk="0">
              <a:lnSpc>
                <a:spcPct val="101000"/>
              </a:lnSpc>
              <a:spcBef>
                <a:spcPts val="28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AnalyseExcel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各类电子产品销售数据.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 2023 年 9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月份各供应商的销售额总和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供应商 9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月销售额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(元)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0320" algn="l" rtl="0" eaLnBrk="0">
              <a:lnSpc>
                <a:spcPct val="10000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云林音乐科技有限公司 55738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兰州数码有限公司 233974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0955" indent="1270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 台东计算机科技有限公司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5984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 台中音响科技有限公司 70161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7780" algn="l" rtl="0" eaLnBrk="0">
              <a:lnSpc>
                <a:spcPts val="173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 台北环保科技有限公司 54978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1590" algn="l" rtl="0" eaLnBrk="0">
              <a:lnSpc>
                <a:spcPct val="94000"/>
              </a:lnSpc>
              <a:spcBef>
                <a:spcPts val="50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 台南健康科技有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限公司 45954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ct val="10000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嘉义摄影科技有限公司 220987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ct val="10000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嘉义清新科技有限公司 45576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1590" algn="l" rtl="0" eaLnBrk="0">
              <a:lnSpc>
                <a:spcPct val="100000"/>
              </a:lnSpc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基隆游戏有限公司 47141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ct val="100000"/>
              </a:lnSpc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 屏东科学技术有限公司 1754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73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拉萨摄影有限公司 208989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新竹通讯科技有限公司 254966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昆明游戏科技有限公司 206352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 海口电讯科技有限公司 273564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 澎湖视讯科技有限公司 8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3993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澳门互联网科技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有限公司 57156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 珠海健康科技有限公司 18320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 花莲运动科技有限公司 40269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 西宁计算机科技有限公司 169983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9845" algn="l" rtl="0" eaLnBrk="0">
              <a:lnSpc>
                <a:spcPct val="100000"/>
              </a:lnSpc>
            </a:pP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 西安运动科技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有限公司 101471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 贵阳影音科技有限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公司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139990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ct val="100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 银川音响有限公司 53533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860" algn="l" rtl="0" eaLnBrk="0">
              <a:lnSpc>
                <a:spcPts val="1730"/>
              </a:lnSpc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 高雄音乐科技有限公司 11654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325734" y="1147826"/>
          <a:ext cx="7390765" cy="4489450"/>
        </p:xfrm>
        <a:graphic>
          <a:graphicData uri="http://schemas.openxmlformats.org/drawingml/2006/table">
            <a:tbl>
              <a:tblPr/>
              <a:tblGrid>
                <a:gridCol w="3674109"/>
                <a:gridCol w="3145155"/>
                <a:gridCol w="571500"/>
              </a:tblGrid>
              <a:tr h="1696085">
                <a:tc rowSpan="2">
                  <a:txBody>
                    <a:bodyPr/>
                    <a:lstStyle/>
                    <a:p>
                      <a:pPr marL="825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第4轮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75" indent="635" algn="l" rtl="0" eaLnBrk="0">
                        <a:lnSpc>
                          <a:spcPct val="102000"/>
                        </a:lnSpc>
                        <a:spcBef>
                          <a:spcPts val="265"/>
                        </a:spcBef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从</a:t>
                      </a:r>
                      <a:r>
                        <a:rPr sz="14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“各类电子产品销售数据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.xlsx</a:t>
                      </a:r>
                      <a:r>
                        <a:rPr sz="14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</a:t>
                      </a:r>
                      <a:r>
                        <a:rPr sz="14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中筛选 9 月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份数据</a:t>
                      </a:r>
                      <a:r>
                        <a:rPr sz="14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。执行 InspectExc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el 动作，探查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的列名和前 3 行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，以确定销售额和月份所在列。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255" algn="l" rtl="0" eaLnBrk="0">
                        <a:lnSpc>
                          <a:spcPts val="2280"/>
                        </a:lnSpc>
                        <a:spcBef>
                          <a:spcPts val="520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75" indent="635" algn="l" rtl="0" eaLnBrk="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从  “各类电子产品销售数据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中筛选销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售日期为 9 月份的记录，按供应商分组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汇总销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售量和单价，计算销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售额。使用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2540" indent="-2540" algn="l" rtl="0" eaLnBrk="0">
                        <a:lnSpc>
                          <a:spcPct val="102000"/>
                        </a:lnSpc>
                        <a:spcBef>
                          <a:spcPts val="1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工具，对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“各类电子产品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销售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 按销售日期筛选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 月份数据，按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供应商分组，计算每个供应商的销售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额总和。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82880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第4轮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8161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InspectExcel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79705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据.xlsx"file_ty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pe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80975" algn="l" rtl="0" eaLnBrk="0">
                        <a:lnSpc>
                          <a:spcPts val="173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4325" indent="-5080" algn="l" rtl="0" eaLnBrk="0">
                        <a:lnSpc>
                          <a:spcPct val="113000"/>
                        </a:lnSpc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6230" indent="5715" algn="l" rtl="0" eaLnBrk="0">
                        <a:lnSpc>
                          <a:spcPct val="97000"/>
                        </a:lnSpc>
                        <a:spcBef>
                          <a:spcPts val="20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['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8610" algn="l" rtl="0" eaLnBrk="0">
                        <a:lnSpc>
                          <a:spcPct val="85000"/>
                        </a:lnSpc>
                        <a:spcBef>
                          <a:spcPts val="47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手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algn="l" rtl="0" eaLnBrk="0">
                        <a:lnSpc>
                          <a:spcPct val="82000"/>
                        </a:lnSpc>
                        <a:spcBef>
                          <a:spcPts val="29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耳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algn="l" rtl="0" eaLnBrk="0">
                        <a:lnSpc>
                          <a:spcPct val="87000"/>
                        </a:lnSpc>
                        <a:spcBef>
                          <a:spcPts val="20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笔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3365"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71755" algn="l" rtl="0" eaLnBrk="0">
                        <a:lnSpc>
                          <a:spcPts val="2280"/>
                        </a:lnSpc>
                        <a:spcBef>
                          <a:spcPts val="0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70485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6413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 "各类电子产品销售数据.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64135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69850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73660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import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pandas</a:t>
                      </a:r>
                      <a:r>
                        <a:rPr sz="1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as</a:t>
                      </a:r>
                      <a:r>
                        <a:rPr sz="1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pd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66675" indent="2540" algn="l" rtl="0" eaLnBrk="0">
                        <a:lnSpc>
                          <a:spcPct val="99000"/>
                        </a:lnSpc>
                        <a:spcBef>
                          <a:spcPts val="100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df = pd.read_excel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('/mnt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/data/ 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df</a:t>
                      </a:r>
                      <a:r>
                        <a:rPr sz="1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[' 销售日期 '] =</a:t>
                      </a:r>
                      <a:r>
                        <a:rPr sz="1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pd.to_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datetime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(df</a:t>
                      </a:r>
                      <a:r>
                        <a:rPr sz="1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[' 销售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september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data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=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df</a:t>
                      </a:r>
                      <a:r>
                        <a:rPr sz="1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df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[' 销售日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期 '].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dt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.m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sales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summary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=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september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data</a:t>
                      </a:r>
                      <a:r>
                        <a:rPr sz="1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group   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售量 ']).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sum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()).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reset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index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='9 月销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print</a:t>
                      </a:r>
                      <a:r>
                        <a:rPr sz="1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sales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summary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)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2" name="textbox 152"/>
          <p:cNvSpPr/>
          <p:nvPr/>
        </p:nvSpPr>
        <p:spPr>
          <a:xfrm>
            <a:off x="317673" y="458333"/>
            <a:ext cx="7268844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ts val="173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：9 月份销售额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不达标的供应商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各类电子产品销售数据.xlsx，各地供应商信息.xlsx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，202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 年供应商月销售额任务管理方案.p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320700" y="132460"/>
            <a:ext cx="2651125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28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3个文件 +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1个问题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table 158"/>
          <p:cNvGraphicFramePr>
            <a:graphicFrameLocks noGrp="1"/>
          </p:cNvGraphicFramePr>
          <p:nvPr/>
        </p:nvGraphicFramePr>
        <p:xfrm>
          <a:off x="325733" y="1147826"/>
          <a:ext cx="11624945" cy="5249545"/>
        </p:xfrm>
        <a:graphic>
          <a:graphicData uri="http://schemas.openxmlformats.org/drawingml/2006/table">
            <a:tbl>
              <a:tblPr/>
              <a:tblGrid>
                <a:gridCol w="3729355"/>
                <a:gridCol w="3086100"/>
                <a:gridCol w="4809490"/>
              </a:tblGrid>
              <a:tr h="1711325">
                <a:tc>
                  <a:txBody>
                    <a:bodyPr/>
                    <a:lstStyle/>
                    <a:p>
                      <a:pPr marL="825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第4轮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75" indent="635" algn="l" rtl="0" eaLnBrk="0">
                        <a:lnSpc>
                          <a:spcPct val="102000"/>
                        </a:lnSpc>
                        <a:spcBef>
                          <a:spcPts val="265"/>
                        </a:spcBef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从</a:t>
                      </a:r>
                      <a:r>
                        <a:rPr sz="14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“各类电子产品销售数据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.xlsx</a:t>
                      </a:r>
                      <a:r>
                        <a:rPr sz="14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</a:t>
                      </a:r>
                      <a:r>
                        <a:rPr sz="14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中筛选 9 月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份数据</a:t>
                      </a:r>
                      <a:r>
                        <a:rPr sz="14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。执行 InspectExc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el 动作，探查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的列名和前 3 行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，以确定销售额和月份所在列。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763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第4轮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6365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InspectExcel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4460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据.xlsx"file_ty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pe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5730" algn="l" rtl="0" eaLnBrk="0">
                        <a:lnSpc>
                          <a:spcPts val="173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1305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第4轮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8135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InspectExcel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20040" indent="5715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['品类', '产品名', '单价(元)',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'销售量',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'销售日期',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'供应商']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品类 产品名 单价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(元) 销售量 销售日期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1150" indent="1270" algn="l" rtl="0" eaLnBrk="0">
                        <a:lnSpc>
                          <a:spcPct val="100000"/>
                        </a:lnSpc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手机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Xiaomi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Mi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11 4999 20 08-02</a:t>
                      </a: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北京科技有限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公司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耳机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Sony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XM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4 2999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15 08-03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上海音响有限公司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1150" algn="l" rtl="0" eaLnBrk="0">
                        <a:lnSpc>
                          <a:spcPts val="1730"/>
                        </a:lnSpc>
                      </a:pP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笔记本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Lenovo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1 8999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10 0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8-05 深圳创新有限公司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4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255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75" indent="635" algn="l" rtl="0" eaLnBrk="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从  “各类电子产品销售数据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中筛选销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售日期为 9 月份的记录，按供应商分组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汇总销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售量和单价，计算销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售额。使用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2540" indent="-2540" algn="l" rtl="0" eaLnBrk="0">
                        <a:lnSpc>
                          <a:spcPct val="102000"/>
                        </a:lnSpc>
                        <a:spcBef>
                          <a:spcPts val="1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工具，对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“各类电子产品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销售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 按销售日期筛选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 月份数据，按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供应商分组，计算每个供应商的销售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额总和。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7000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573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3825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19380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5095" algn="l" rtl="0" eaLnBrk="0">
                        <a:lnSpc>
                          <a:spcPts val="173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0810" algn="l" rtl="0" eaLnBrk="0">
                        <a:lnSpc>
                          <a:spcPts val="27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algn="l" rtl="0" eaLnBrk="0">
                        <a:lnSpc>
                          <a:spcPts val="2280"/>
                        </a:lnSpc>
                        <a:spcBef>
                          <a:spcPts val="0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4800" algn="l" rtl="0" eaLnBrk="0">
                        <a:lnSpc>
                          <a:spcPts val="1765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1150" algn="l" rtl="0" eaLnBrk="0">
                        <a:lnSpc>
                          <a:spcPct val="96000"/>
                        </a:lnSpc>
                        <a:spcBef>
                          <a:spcPts val="50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计算 2023 年 9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月份各供应商的销售额总和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algn="l" rtl="0" eaLnBrk="0">
                        <a:lnSpc>
                          <a:spcPct val="96000"/>
                        </a:lnSpc>
                        <a:spcBef>
                          <a:spcPts val="5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 9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月销售额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(元)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2420" algn="l" rtl="0" eaLnBrk="0">
                        <a:lnSpc>
                          <a:spcPct val="100000"/>
                        </a:lnSpc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 云林音乐科技有限公司 55738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21945" algn="l" rtl="0" eaLnBrk="0">
                        <a:lnSpc>
                          <a:spcPct val="100000"/>
                        </a:lnSpc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 兰州数码有限公司 233974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4960" algn="l" rtl="0" eaLnBrk="0">
                        <a:lnSpc>
                          <a:spcPts val="1730"/>
                        </a:lnSpc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 台东计算机科技有限公司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17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5984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03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7620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905" indent="1905" algn="l" rtl="0" eaLnBrk="0">
                        <a:lnSpc>
                          <a:spcPct val="98000"/>
                        </a:lnSpc>
                        <a:spcBef>
                          <a:spcPts val="295"/>
                        </a:spcBef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现有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结果包含各供应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商 9 月份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销售额，达标标准为 3 万元，可通过比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较筛选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出不达标供应商。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7000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573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3825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19380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5095" algn="l" rtl="0" eaLnBrk="0">
                        <a:lnSpc>
                          <a:spcPts val="173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0810" algn="l" rtl="0" eaLnBrk="0">
                        <a:lnSpc>
                          <a:spcPts val="15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480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407035" indent="-95250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筛选出 2023 年 9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月份销售额不达标的供应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商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         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（销售额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&lt; 3</a:t>
                      </a:r>
                      <a:r>
                        <a:rPr sz="1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万元）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algn="l" rtl="0" eaLnBrk="0">
                        <a:lnSpc>
                          <a:spcPct val="100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 9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月销售额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(元)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21945" algn="l" rtl="0" eaLnBrk="0">
                        <a:lnSpc>
                          <a:spcPts val="1730"/>
                        </a:lnSpc>
                      </a:pP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16 珠海健康科技有限公司 18320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2" name="textbox 162"/>
          <p:cNvSpPr/>
          <p:nvPr/>
        </p:nvSpPr>
        <p:spPr>
          <a:xfrm>
            <a:off x="317673" y="458333"/>
            <a:ext cx="744156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ts val="173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：9 月份销售额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不达标的供应商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各类电子产品销售数据.xlsx，各地供应商信息.xlsx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，2023 年供应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320700" y="132460"/>
            <a:ext cx="2651125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28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3个文件 +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1个问题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table 168"/>
          <p:cNvGraphicFramePr>
            <a:graphicFrameLocks noGrp="1"/>
          </p:cNvGraphicFramePr>
          <p:nvPr/>
        </p:nvGraphicFramePr>
        <p:xfrm>
          <a:off x="325733" y="1173860"/>
          <a:ext cx="10751185" cy="4862195"/>
        </p:xfrm>
        <a:graphic>
          <a:graphicData uri="http://schemas.openxmlformats.org/drawingml/2006/table">
            <a:tbl>
              <a:tblPr/>
              <a:tblGrid>
                <a:gridCol w="3726814"/>
                <a:gridCol w="3088640"/>
                <a:gridCol w="3935730"/>
              </a:tblGrid>
              <a:tr h="1742440">
                <a:tc>
                  <a:txBody>
                    <a:bodyPr/>
                    <a:lstStyle/>
                    <a:p>
                      <a:pPr marL="8255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75" indent="635" algn="l" rtl="0" eaLnBrk="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从  “各类电子产品销售数据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中筛选销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售日期为 9 月份的记录，按供应商分组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汇总销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售量和单价，计算销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售额。使用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2540" indent="-2540" algn="l" rtl="0" eaLnBrk="0">
                        <a:lnSpc>
                          <a:spcPct val="102000"/>
                        </a:lnSpc>
                        <a:spcBef>
                          <a:spcPts val="1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工具，对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“各类电子产品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销售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 按销售日期筛选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 月份数据，按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供应商分组，计算每个供应商的销售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额总和。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9540" algn="l" rtl="0" eaLnBrk="0">
                        <a:lnSpc>
                          <a:spcPts val="2280"/>
                        </a:lnSpc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827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6365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1920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7635" algn="l" rtl="0" eaLnBrk="0">
                        <a:lnSpc>
                          <a:spcPts val="173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3350" algn="l" rtl="0" eaLnBrk="0">
                        <a:lnSpc>
                          <a:spcPts val="27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13055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第5轮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indent="-2540" algn="l" rtl="0" eaLnBrk="0">
                        <a:lnSpc>
                          <a:spcPct val="10100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计算 2023 年 9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月份各供应商的销售额总和  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 9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月销售额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(元)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2420" algn="l" rtl="0" eaLnBrk="0">
                        <a:lnSpc>
                          <a:spcPct val="100000"/>
                        </a:lnSpc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 云林音乐科技有限公司 55738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21945" algn="l" rtl="0" eaLnBrk="0">
                        <a:lnSpc>
                          <a:spcPct val="100000"/>
                        </a:lnSpc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 兰州数码有限公司 233974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4960" algn="l" rtl="0" eaLnBrk="0">
                        <a:lnSpc>
                          <a:spcPts val="1730"/>
                        </a:lnSpc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 台东计算机科技有限公司</a:t>
                      </a:r>
                      <a:r>
                        <a:rPr sz="1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17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5984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63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154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7620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905" indent="1905" algn="l" rtl="0" eaLnBrk="0">
                        <a:lnSpc>
                          <a:spcPct val="98000"/>
                        </a:lnSpc>
                        <a:spcBef>
                          <a:spcPts val="295"/>
                        </a:spcBef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现有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结果包含各供应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商 9 月份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销售额，达标标准为 3 万元，可通过比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较筛选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出不达标供应商。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9540" algn="l" rtl="0" eaLnBrk="0">
                        <a:lnSpc>
                          <a:spcPts val="2280"/>
                        </a:lnSpc>
                        <a:spcBef>
                          <a:spcPts val="0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827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6365" indent="-4445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"各类电子产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品销售数  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据.xlsx"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1920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"xlsx"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7635" algn="l" rtl="0" eaLnBrk="0">
                        <a:lnSpc>
                          <a:spcPts val="173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3350" algn="l" rtl="0" eaLnBrk="0">
                        <a:lnSpc>
                          <a:spcPts val="27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......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第6轮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480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AnalyseExcel</a:t>
                      </a: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各类电子产品销售数据.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xlsx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407035" indent="-95250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筛选出 2023 年 9</a:t>
                      </a: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月份销售额不达标的供应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商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（销售额</a:t>
                      </a:r>
                      <a:r>
                        <a:rPr sz="1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&lt; 3</a:t>
                      </a:r>
                      <a:r>
                        <a:rPr sz="1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万元）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340" algn="l" rtl="0" eaLnBrk="0">
                        <a:lnSpc>
                          <a:spcPct val="100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供应商 9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月销售额</a:t>
                      </a:r>
                      <a:r>
                        <a:rPr sz="1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(元)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21945" algn="l" rtl="0" eaLnBrk="0">
                        <a:lnSpc>
                          <a:spcPts val="1730"/>
                        </a:lnSpc>
                      </a:pP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16 珠海健康科技有限公司 18320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04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255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第7轮 推理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525" indent="-508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所有必要数据已齐全，无需额外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获取。任务已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完成，输出最终结果。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9540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第7轮 行动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8270" algn="l" rtl="0" eaLnBrk="0">
                        <a:lnSpc>
                          <a:spcPts val="1730"/>
                        </a:lnSpc>
                        <a:spcBef>
                          <a:spcPts val="28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action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"FINISH"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1920" algn="l" rtl="0" eaLnBrk="0">
                        <a:lnSpc>
                          <a:spcPct val="100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name</a:t>
                      </a:r>
                      <a:r>
                        <a:rPr sz="1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1920" algn="l" rtl="0" eaLnBrk="0">
                        <a:lnSpc>
                          <a:spcPct val="100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file_type</a:t>
                      </a:r>
                      <a:r>
                        <a:rPr sz="1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127635" algn="l" rtl="0" eaLnBrk="0">
                        <a:lnSpc>
                          <a:spcPct val="99000"/>
                        </a:lnSpc>
                        <a:spcBef>
                          <a:spcPts val="1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r>
                        <a:rPr sz="1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:</a:t>
                      </a:r>
                      <a:r>
                        <a:rPr sz="1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""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algn="l" rtl="0" eaLnBrk="0">
                        <a:lnSpc>
                          <a:spcPts val="2280"/>
                        </a:lnSpc>
                        <a:spcBef>
                          <a:spcPts val="5"/>
                        </a:spcBef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第7轮 反馈</a:t>
                      </a:r>
                      <a:endParaRPr sz="1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10515" algn="l" rtl="0" eaLnBrk="0">
                        <a:lnSpc>
                          <a:spcPts val="1855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结束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9880" algn="l" rtl="0" eaLnBrk="0">
                        <a:lnSpc>
                          <a:spcPct val="86000"/>
                        </a:lnSpc>
                        <a:spcBef>
                          <a:spcPts val="38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输出结果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2" name="textbox 172"/>
          <p:cNvSpPr/>
          <p:nvPr/>
        </p:nvSpPr>
        <p:spPr>
          <a:xfrm>
            <a:off x="317673" y="458333"/>
            <a:ext cx="744156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ts val="173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：9 月份销售额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不达标的供应商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ts val="173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各类电子产品销售数据.xlsx，各地供应商信息.xlsx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，2023 年供应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商月销售额任务管理方案.pdf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320700" y="132460"/>
            <a:ext cx="2651125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28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3个文件 +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1个问题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/>
          <p:nvPr/>
        </p:nvSpPr>
        <p:spPr>
          <a:xfrm>
            <a:off x="465531" y="255397"/>
            <a:ext cx="7593965" cy="176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4565"/>
              </a:lnSpc>
            </a:pPr>
            <a:r>
              <a:rPr sz="35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思维链（</a:t>
            </a:r>
            <a:r>
              <a:rPr sz="35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Chain</a:t>
            </a:r>
            <a:r>
              <a:rPr sz="35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Of</a:t>
            </a:r>
            <a:r>
              <a:rPr sz="35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Thought</a:t>
            </a:r>
            <a:r>
              <a:rPr sz="3500" kern="0" spc="-6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5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sz="3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45085" algn="l" rtl="0" eaLnBrk="0">
              <a:lnSpc>
                <a:spcPct val="86000"/>
              </a:lnSpc>
              <a:spcBef>
                <a:spcPts val="1495"/>
              </a:spcBef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链式思考是什么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0000"/>
              </a:lnSpc>
              <a:spcBef>
                <a:spcPts val="5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模型执行任务时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，通过输出一系列中间推理过程文字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，模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拟人类推理过程。</a:t>
            </a:r>
            <a:endParaRPr sz="1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385316"/>
            <a:ext cx="12192000" cy="4832604"/>
          </a:xfrm>
          <a:prstGeom prst="rect">
            <a:avLst/>
          </a:prstGeom>
        </p:spPr>
      </p:pic>
      <p:sp>
        <p:nvSpPr>
          <p:cNvPr id="194" name="textbox 194"/>
          <p:cNvSpPr/>
          <p:nvPr/>
        </p:nvSpPr>
        <p:spPr>
          <a:xfrm>
            <a:off x="446984" y="340750"/>
            <a:ext cx="7324090" cy="475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545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sz="2700" kern="0" spc="-7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模型提供智能，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保证结果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6945</Words>
  <Application>WPS 文字</Application>
  <PresentationFormat/>
  <Paragraphs>436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芋头</cp:lastModifiedBy>
  <cp:revision>1</cp:revision>
  <dcterms:created xsi:type="dcterms:W3CDTF">2026-06-12T03:18:03Z</dcterms:created>
  <dcterms:modified xsi:type="dcterms:W3CDTF">2026-06-12T03:18:03Z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2026-06-12T11:00:33Z</vt:filetime>
  </property>
  <property fmtid="{D5CDD505-2E9C-101B-9397-08002B2CF9AE}" pid="4" name="ICV">
    <vt:lpwstr>AF6660048EB291AD6B7A2B6A1D491630_42</vt:lpwstr>
  </property>
  <property fmtid="{D5CDD505-2E9C-101B-9397-08002B2CF9AE}" pid="5" name="KSOProductBuildVer">
    <vt:lpwstr>2052-12.1.22218.22218</vt:lpwstr>
  </property>
</Properties>
</file>